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661600" cy="43883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" d="100"/>
          <a:sy n="11" d="100"/>
        </p:scale>
        <p:origin x="19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4620" y="7181824"/>
            <a:ext cx="30312360" cy="15277877"/>
          </a:xfrm>
        </p:spPr>
        <p:txBody>
          <a:bodyPr anchor="b"/>
          <a:lstStyle>
            <a:lvl1pPr algn="ctr">
              <a:defRPr sz="2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7700" y="23048874"/>
            <a:ext cx="26746200" cy="10594961"/>
          </a:xfrm>
        </p:spPr>
        <p:txBody>
          <a:bodyPr/>
          <a:lstStyle>
            <a:lvl1pPr marL="0" indent="0" algn="ctr">
              <a:buNone/>
              <a:defRPr sz="9360"/>
            </a:lvl1pPr>
            <a:lvl2pPr marL="1783080" indent="0" algn="ctr">
              <a:buNone/>
              <a:defRPr sz="7800"/>
            </a:lvl2pPr>
            <a:lvl3pPr marL="3566160" indent="0" algn="ctr">
              <a:buNone/>
              <a:defRPr sz="7020"/>
            </a:lvl3pPr>
            <a:lvl4pPr marL="5349240" indent="0" algn="ctr">
              <a:buNone/>
              <a:defRPr sz="6240"/>
            </a:lvl4pPr>
            <a:lvl5pPr marL="7132320" indent="0" algn="ctr">
              <a:buNone/>
              <a:defRPr sz="6240"/>
            </a:lvl5pPr>
            <a:lvl6pPr marL="8915400" indent="0" algn="ctr">
              <a:buNone/>
              <a:defRPr sz="6240"/>
            </a:lvl6pPr>
            <a:lvl7pPr marL="10698480" indent="0" algn="ctr">
              <a:buNone/>
              <a:defRPr sz="6240"/>
            </a:lvl7pPr>
            <a:lvl8pPr marL="12481560" indent="0" algn="ctr">
              <a:buNone/>
              <a:defRPr sz="6240"/>
            </a:lvl8pPr>
            <a:lvl9pPr marL="14264640" indent="0" algn="ctr">
              <a:buNone/>
              <a:defRPr sz="6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80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10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163" y="10940354"/>
            <a:ext cx="30758130" cy="18254215"/>
          </a:xfrm>
        </p:spPr>
        <p:txBody>
          <a:bodyPr anchor="b"/>
          <a:lstStyle>
            <a:lvl1pPr>
              <a:defRPr sz="2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3163" y="29367261"/>
            <a:ext cx="30758130" cy="9599461"/>
          </a:xfrm>
        </p:spPr>
        <p:txBody>
          <a:bodyPr/>
          <a:lstStyle>
            <a:lvl1pPr marL="0" indent="0">
              <a:buNone/>
              <a:defRPr sz="9360">
                <a:solidFill>
                  <a:schemeClr val="tx1"/>
                </a:solidFill>
              </a:defRPr>
            </a:lvl1pPr>
            <a:lvl2pPr marL="1783080" indent="0">
              <a:buNone/>
              <a:defRPr sz="7800">
                <a:solidFill>
                  <a:schemeClr val="tx1">
                    <a:tint val="75000"/>
                  </a:schemeClr>
                </a:solidFill>
              </a:defRPr>
            </a:lvl2pPr>
            <a:lvl3pPr marL="3566160" indent="0">
              <a:buNone/>
              <a:defRPr sz="7020">
                <a:solidFill>
                  <a:schemeClr val="tx1">
                    <a:tint val="75000"/>
                  </a:schemeClr>
                </a:solidFill>
              </a:defRPr>
            </a:lvl3pPr>
            <a:lvl4pPr marL="5349240" indent="0">
              <a:buNone/>
              <a:defRPr sz="6240">
                <a:solidFill>
                  <a:schemeClr val="tx1">
                    <a:tint val="75000"/>
                  </a:schemeClr>
                </a:solidFill>
              </a:defRPr>
            </a:lvl4pPr>
            <a:lvl5pPr marL="7132320" indent="0">
              <a:buNone/>
              <a:defRPr sz="6240">
                <a:solidFill>
                  <a:schemeClr val="tx1">
                    <a:tint val="75000"/>
                  </a:schemeClr>
                </a:solidFill>
              </a:defRPr>
            </a:lvl5pPr>
            <a:lvl6pPr marL="8915400" indent="0">
              <a:buNone/>
              <a:defRPr sz="6240">
                <a:solidFill>
                  <a:schemeClr val="tx1">
                    <a:tint val="75000"/>
                  </a:schemeClr>
                </a:solidFill>
              </a:defRPr>
            </a:lvl6pPr>
            <a:lvl7pPr marL="10698480" indent="0">
              <a:buNone/>
              <a:defRPr sz="6240">
                <a:solidFill>
                  <a:schemeClr val="tx1">
                    <a:tint val="75000"/>
                  </a:schemeClr>
                </a:solidFill>
              </a:defRPr>
            </a:lvl7pPr>
            <a:lvl8pPr marL="12481560" indent="0">
              <a:buNone/>
              <a:defRPr sz="6240">
                <a:solidFill>
                  <a:schemeClr val="tx1">
                    <a:tint val="75000"/>
                  </a:schemeClr>
                </a:solidFill>
              </a:defRPr>
            </a:lvl8pPr>
            <a:lvl9pPr marL="14264640" indent="0">
              <a:buNone/>
              <a:defRPr sz="6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42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1735" y="11681887"/>
            <a:ext cx="15156180" cy="278435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53685" y="11681887"/>
            <a:ext cx="15156180" cy="278435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417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0" y="2336387"/>
            <a:ext cx="30758130" cy="84820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384" y="10757498"/>
            <a:ext cx="15086526" cy="5272083"/>
          </a:xfrm>
        </p:spPr>
        <p:txBody>
          <a:bodyPr anchor="b"/>
          <a:lstStyle>
            <a:lvl1pPr marL="0" indent="0">
              <a:buNone/>
              <a:defRPr sz="9360" b="1"/>
            </a:lvl1pPr>
            <a:lvl2pPr marL="1783080" indent="0">
              <a:buNone/>
              <a:defRPr sz="7800" b="1"/>
            </a:lvl2pPr>
            <a:lvl3pPr marL="3566160" indent="0">
              <a:buNone/>
              <a:defRPr sz="7020" b="1"/>
            </a:lvl3pPr>
            <a:lvl4pPr marL="5349240" indent="0">
              <a:buNone/>
              <a:defRPr sz="6240" b="1"/>
            </a:lvl4pPr>
            <a:lvl5pPr marL="7132320" indent="0">
              <a:buNone/>
              <a:defRPr sz="6240" b="1"/>
            </a:lvl5pPr>
            <a:lvl6pPr marL="8915400" indent="0">
              <a:buNone/>
              <a:defRPr sz="6240" b="1"/>
            </a:lvl6pPr>
            <a:lvl7pPr marL="10698480" indent="0">
              <a:buNone/>
              <a:defRPr sz="6240" b="1"/>
            </a:lvl7pPr>
            <a:lvl8pPr marL="12481560" indent="0">
              <a:buNone/>
              <a:defRPr sz="6240" b="1"/>
            </a:lvl8pPr>
            <a:lvl9pPr marL="14264640" indent="0">
              <a:buNone/>
              <a:defRPr sz="62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6384" y="16029581"/>
            <a:ext cx="15086526" cy="235770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053687" y="10757498"/>
            <a:ext cx="15160825" cy="5272083"/>
          </a:xfrm>
        </p:spPr>
        <p:txBody>
          <a:bodyPr anchor="b"/>
          <a:lstStyle>
            <a:lvl1pPr marL="0" indent="0">
              <a:buNone/>
              <a:defRPr sz="9360" b="1"/>
            </a:lvl1pPr>
            <a:lvl2pPr marL="1783080" indent="0">
              <a:buNone/>
              <a:defRPr sz="7800" b="1"/>
            </a:lvl2pPr>
            <a:lvl3pPr marL="3566160" indent="0">
              <a:buNone/>
              <a:defRPr sz="7020" b="1"/>
            </a:lvl3pPr>
            <a:lvl4pPr marL="5349240" indent="0">
              <a:buNone/>
              <a:defRPr sz="6240" b="1"/>
            </a:lvl4pPr>
            <a:lvl5pPr marL="7132320" indent="0">
              <a:buNone/>
              <a:defRPr sz="6240" b="1"/>
            </a:lvl5pPr>
            <a:lvl6pPr marL="8915400" indent="0">
              <a:buNone/>
              <a:defRPr sz="6240" b="1"/>
            </a:lvl6pPr>
            <a:lvl7pPr marL="10698480" indent="0">
              <a:buNone/>
              <a:defRPr sz="6240" b="1"/>
            </a:lvl7pPr>
            <a:lvl8pPr marL="12481560" indent="0">
              <a:buNone/>
              <a:defRPr sz="6240" b="1"/>
            </a:lvl8pPr>
            <a:lvl9pPr marL="14264640" indent="0">
              <a:buNone/>
              <a:defRPr sz="62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053687" y="16029581"/>
            <a:ext cx="15160825" cy="235770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282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61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0" y="2925551"/>
            <a:ext cx="11501794" cy="10239428"/>
          </a:xfrm>
        </p:spPr>
        <p:txBody>
          <a:bodyPr anchor="b"/>
          <a:lstStyle>
            <a:lvl1pPr>
              <a:defRPr sz="12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60825" y="6318387"/>
            <a:ext cx="18053685" cy="31185560"/>
          </a:xfrm>
        </p:spPr>
        <p:txBody>
          <a:bodyPr/>
          <a:lstStyle>
            <a:lvl1pPr>
              <a:defRPr sz="12480"/>
            </a:lvl1pPr>
            <a:lvl2pPr>
              <a:defRPr sz="10920"/>
            </a:lvl2pPr>
            <a:lvl3pPr>
              <a:defRPr sz="9360"/>
            </a:lvl3pPr>
            <a:lvl4pPr>
              <a:defRPr sz="7800"/>
            </a:lvl4pPr>
            <a:lvl5pPr>
              <a:defRPr sz="7800"/>
            </a:lvl5pPr>
            <a:lvl6pPr>
              <a:defRPr sz="7800"/>
            </a:lvl6pPr>
            <a:lvl7pPr>
              <a:defRPr sz="7800"/>
            </a:lvl7pPr>
            <a:lvl8pPr>
              <a:defRPr sz="7800"/>
            </a:lvl8pPr>
            <a:lvl9pPr>
              <a:defRPr sz="7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0" y="13164979"/>
            <a:ext cx="11501794" cy="24389752"/>
          </a:xfrm>
        </p:spPr>
        <p:txBody>
          <a:bodyPr/>
          <a:lstStyle>
            <a:lvl1pPr marL="0" indent="0">
              <a:buNone/>
              <a:defRPr sz="6240"/>
            </a:lvl1pPr>
            <a:lvl2pPr marL="1783080" indent="0">
              <a:buNone/>
              <a:defRPr sz="5460"/>
            </a:lvl2pPr>
            <a:lvl3pPr marL="3566160" indent="0">
              <a:buNone/>
              <a:defRPr sz="4680"/>
            </a:lvl3pPr>
            <a:lvl4pPr marL="5349240" indent="0">
              <a:buNone/>
              <a:defRPr sz="3900"/>
            </a:lvl4pPr>
            <a:lvl5pPr marL="7132320" indent="0">
              <a:buNone/>
              <a:defRPr sz="3900"/>
            </a:lvl5pPr>
            <a:lvl6pPr marL="8915400" indent="0">
              <a:buNone/>
              <a:defRPr sz="3900"/>
            </a:lvl6pPr>
            <a:lvl7pPr marL="10698480" indent="0">
              <a:buNone/>
              <a:defRPr sz="3900"/>
            </a:lvl7pPr>
            <a:lvl8pPr marL="12481560" indent="0">
              <a:buNone/>
              <a:defRPr sz="3900"/>
            </a:lvl8pPr>
            <a:lvl9pPr marL="14264640" indent="0">
              <a:buNone/>
              <a:defRPr sz="3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89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0" y="2925551"/>
            <a:ext cx="11501794" cy="10239428"/>
          </a:xfrm>
        </p:spPr>
        <p:txBody>
          <a:bodyPr anchor="b"/>
          <a:lstStyle>
            <a:lvl1pPr>
              <a:defRPr sz="12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160825" y="6318387"/>
            <a:ext cx="18053685" cy="31185560"/>
          </a:xfrm>
        </p:spPr>
        <p:txBody>
          <a:bodyPr anchor="t"/>
          <a:lstStyle>
            <a:lvl1pPr marL="0" indent="0">
              <a:buNone/>
              <a:defRPr sz="12480"/>
            </a:lvl1pPr>
            <a:lvl2pPr marL="1783080" indent="0">
              <a:buNone/>
              <a:defRPr sz="10920"/>
            </a:lvl2pPr>
            <a:lvl3pPr marL="3566160" indent="0">
              <a:buNone/>
              <a:defRPr sz="9360"/>
            </a:lvl3pPr>
            <a:lvl4pPr marL="5349240" indent="0">
              <a:buNone/>
              <a:defRPr sz="7800"/>
            </a:lvl4pPr>
            <a:lvl5pPr marL="7132320" indent="0">
              <a:buNone/>
              <a:defRPr sz="7800"/>
            </a:lvl5pPr>
            <a:lvl6pPr marL="8915400" indent="0">
              <a:buNone/>
              <a:defRPr sz="7800"/>
            </a:lvl6pPr>
            <a:lvl7pPr marL="10698480" indent="0">
              <a:buNone/>
              <a:defRPr sz="7800"/>
            </a:lvl7pPr>
            <a:lvl8pPr marL="12481560" indent="0">
              <a:buNone/>
              <a:defRPr sz="7800"/>
            </a:lvl8pPr>
            <a:lvl9pPr marL="14264640" indent="0">
              <a:buNone/>
              <a:defRPr sz="7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0" y="13164979"/>
            <a:ext cx="11501794" cy="24389752"/>
          </a:xfrm>
        </p:spPr>
        <p:txBody>
          <a:bodyPr/>
          <a:lstStyle>
            <a:lvl1pPr marL="0" indent="0">
              <a:buNone/>
              <a:defRPr sz="6240"/>
            </a:lvl1pPr>
            <a:lvl2pPr marL="1783080" indent="0">
              <a:buNone/>
              <a:defRPr sz="5460"/>
            </a:lvl2pPr>
            <a:lvl3pPr marL="3566160" indent="0">
              <a:buNone/>
              <a:defRPr sz="4680"/>
            </a:lvl3pPr>
            <a:lvl4pPr marL="5349240" indent="0">
              <a:buNone/>
              <a:defRPr sz="3900"/>
            </a:lvl4pPr>
            <a:lvl5pPr marL="7132320" indent="0">
              <a:buNone/>
              <a:defRPr sz="3900"/>
            </a:lvl5pPr>
            <a:lvl6pPr marL="8915400" indent="0">
              <a:buNone/>
              <a:defRPr sz="3900"/>
            </a:lvl6pPr>
            <a:lvl7pPr marL="10698480" indent="0">
              <a:buNone/>
              <a:defRPr sz="3900"/>
            </a:lvl7pPr>
            <a:lvl8pPr marL="12481560" indent="0">
              <a:buNone/>
              <a:defRPr sz="3900"/>
            </a:lvl8pPr>
            <a:lvl9pPr marL="14264640" indent="0">
              <a:buNone/>
              <a:defRPr sz="3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522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67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520334" y="2336377"/>
            <a:ext cx="7689533" cy="37189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51737" y="2336377"/>
            <a:ext cx="22622828" cy="3718903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94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51735" y="2336387"/>
            <a:ext cx="30758130" cy="8482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1735" y="11681887"/>
            <a:ext cx="30758130" cy="27843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1735" y="40673293"/>
            <a:ext cx="8023860" cy="2336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BE18B-724D-4CAA-98EE-0D7ED69B14CB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12905" y="40673293"/>
            <a:ext cx="12035790" cy="2336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186005" y="40673293"/>
            <a:ext cx="8023860" cy="2336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6526C-9EA7-4FFE-8467-BB15ADB6B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68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66160" rtl="0" eaLnBrk="1" latinLnBrk="0" hangingPunct="1">
        <a:lnSpc>
          <a:spcPct val="90000"/>
        </a:lnSpc>
        <a:spcBef>
          <a:spcPct val="0"/>
        </a:spcBef>
        <a:buNone/>
        <a:defRPr sz="17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1540" indent="-891540" algn="l" defTabSz="3566160" rtl="0" eaLnBrk="1" latinLnBrk="0" hangingPunct="1">
        <a:lnSpc>
          <a:spcPct val="90000"/>
        </a:lnSpc>
        <a:spcBef>
          <a:spcPts val="3900"/>
        </a:spcBef>
        <a:buFont typeface="Arial" panose="020B0604020202020204" pitchFamily="34" charset="0"/>
        <a:buChar char="•"/>
        <a:defRPr sz="10920" kern="1200">
          <a:solidFill>
            <a:schemeClr val="tx1"/>
          </a:solidFill>
          <a:latin typeface="+mn-lt"/>
          <a:ea typeface="+mn-ea"/>
          <a:cs typeface="+mn-cs"/>
        </a:defRPr>
      </a:lvl1pPr>
      <a:lvl2pPr marL="2674620" indent="-891540" algn="l" defTabSz="356616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9360" kern="1200">
          <a:solidFill>
            <a:schemeClr val="tx1"/>
          </a:solidFill>
          <a:latin typeface="+mn-lt"/>
          <a:ea typeface="+mn-ea"/>
          <a:cs typeface="+mn-cs"/>
        </a:defRPr>
      </a:lvl2pPr>
      <a:lvl3pPr marL="4457700" indent="-891540" algn="l" defTabSz="356616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7800" kern="1200">
          <a:solidFill>
            <a:schemeClr val="tx1"/>
          </a:solidFill>
          <a:latin typeface="+mn-lt"/>
          <a:ea typeface="+mn-ea"/>
          <a:cs typeface="+mn-cs"/>
        </a:defRPr>
      </a:lvl3pPr>
      <a:lvl4pPr marL="6240780" indent="-891540" algn="l" defTabSz="356616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7020" kern="1200">
          <a:solidFill>
            <a:schemeClr val="tx1"/>
          </a:solidFill>
          <a:latin typeface="+mn-lt"/>
          <a:ea typeface="+mn-ea"/>
          <a:cs typeface="+mn-cs"/>
        </a:defRPr>
      </a:lvl4pPr>
      <a:lvl5pPr marL="8023860" indent="-891540" algn="l" defTabSz="356616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7020" kern="1200">
          <a:solidFill>
            <a:schemeClr val="tx1"/>
          </a:solidFill>
          <a:latin typeface="+mn-lt"/>
          <a:ea typeface="+mn-ea"/>
          <a:cs typeface="+mn-cs"/>
        </a:defRPr>
      </a:lvl5pPr>
      <a:lvl6pPr marL="9806940" indent="-891540" algn="l" defTabSz="356616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7020" kern="1200">
          <a:solidFill>
            <a:schemeClr val="tx1"/>
          </a:solidFill>
          <a:latin typeface="+mn-lt"/>
          <a:ea typeface="+mn-ea"/>
          <a:cs typeface="+mn-cs"/>
        </a:defRPr>
      </a:lvl6pPr>
      <a:lvl7pPr marL="11590020" indent="-891540" algn="l" defTabSz="356616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7020" kern="1200">
          <a:solidFill>
            <a:schemeClr val="tx1"/>
          </a:solidFill>
          <a:latin typeface="+mn-lt"/>
          <a:ea typeface="+mn-ea"/>
          <a:cs typeface="+mn-cs"/>
        </a:defRPr>
      </a:lvl7pPr>
      <a:lvl8pPr marL="13373100" indent="-891540" algn="l" defTabSz="356616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7020" kern="1200">
          <a:solidFill>
            <a:schemeClr val="tx1"/>
          </a:solidFill>
          <a:latin typeface="+mn-lt"/>
          <a:ea typeface="+mn-ea"/>
          <a:cs typeface="+mn-cs"/>
        </a:defRPr>
      </a:lvl8pPr>
      <a:lvl9pPr marL="15156180" indent="-891540" algn="l" defTabSz="356616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70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1pPr>
      <a:lvl2pPr marL="178308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2pPr>
      <a:lvl3pPr marL="356616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3pPr>
      <a:lvl4pPr marL="534924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4pPr>
      <a:lvl5pPr marL="713232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5pPr>
      <a:lvl6pPr marL="891540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7pPr>
      <a:lvl8pPr marL="1248156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8pPr>
      <a:lvl9pPr marL="14264640" algn="l" defTabSz="3566160" rtl="0" eaLnBrk="1" latinLnBrk="0" hangingPunct="1">
        <a:defRPr sz="70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265623" y="1492051"/>
            <a:ext cx="20808000" cy="12001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AYLA – FROM SILHOUETTE TO STITCH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1292" y="5995313"/>
            <a:ext cx="327657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 invention relates to the field of artificial intelligence, computer vision, and fashion technology, particularly to a silhouette-based digital twin system for personalized Indian ethnic wear styling and design visualization.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776814" y="5118053"/>
            <a:ext cx="10476548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OF THE INVENTION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40253" y="7946639"/>
            <a:ext cx="12149671" cy="93675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INVENTION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02879" y="8956694"/>
            <a:ext cx="272796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visualizing ethnic outfit designs on individual body shapes before stitching.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verbal descriptions, reference images, or mannequins in traditional tailoring.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mismatches in design expectations and repeated alterations.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lack body-specific visualization and tailor-ready design support.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85222" y="13482948"/>
            <a:ext cx="189732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digital styling platform that helps Indian women visualize and finalize ethnic outfit designs before stitching.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28072" y="15509079"/>
            <a:ext cx="14325600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DESCRIPTION OF THE PRODUCT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6057" y="16552341"/>
            <a:ext cx="13412102" cy="374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STYLING SYSTEM: </a:t>
            </a:r>
            <a:r>
              <a:rPr lang="en-US" alt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mobile-based AI assistant that creates a silhouette-based digital twin for personalized Indian blouse and outfit design.</a:t>
            </a:r>
          </a:p>
        </p:txBody>
      </p:sp>
      <p:sp>
        <p:nvSpPr>
          <p:cNvPr id="37" name="Rectangle 36"/>
          <p:cNvSpPr/>
          <p:nvPr/>
        </p:nvSpPr>
        <p:spPr>
          <a:xfrm rot="10800000" flipV="1">
            <a:off x="6033026" y="23804038"/>
            <a:ext cx="1385050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342900" lvl="0" indent="-342900" defTabSz="914400">
              <a:buFontTx/>
              <a:buAutoNum type="arabicPeriod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ethnic wear users</a:t>
            </a:r>
          </a:p>
          <a:p>
            <a:pPr marL="342900" lvl="0" indent="-342900" defTabSz="914400">
              <a:buFontTx/>
              <a:buAutoNum type="arabicPeriod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women</a:t>
            </a:r>
          </a:p>
          <a:p>
            <a:pPr marL="342900" lvl="0" indent="-342900" defTabSz="914400">
              <a:buFontTx/>
              <a:buAutoNum type="arabicPeriod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Bridal and festive styling</a:t>
            </a:r>
          </a:p>
          <a:p>
            <a:pPr marL="342900" lvl="0" indent="-342900" defTabSz="914400">
              <a:buFontTx/>
              <a:buAutoNum type="arabicPeriod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Tailors and boutiques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 rot="10800000" flipV="1">
            <a:off x="6069542" y="20218784"/>
            <a:ext cx="14956073" cy="3682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 OF ACTION:</a:t>
            </a:r>
            <a:r>
              <a:rPr lang="en-US" altLang="en-US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body silhouette from image or manual input, applies rule-based styling with fabric awareness, and enables design customization and export.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3026" y="28143827"/>
            <a:ext cx="135957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 </a:t>
            </a:r>
            <a:r>
              <a:rPr lang="en-US" alt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measurements required, Smartphone-only solution, Tailor-ready design output, Indian-centric styling intelligence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998239" y="29282081"/>
            <a:ext cx="9394320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INDUSTRIES IDENTIFIED  </a:t>
            </a:r>
            <a:endParaRPr lang="en-IN" sz="5400" b="1" dirty="0">
              <a:solidFill>
                <a:schemeClr val="bg1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9066542" y="32876116"/>
            <a:ext cx="265879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/>
          <p:cNvSpPr/>
          <p:nvPr/>
        </p:nvSpPr>
        <p:spPr>
          <a:xfrm rot="10800000" flipV="1">
            <a:off x="21153249" y="30385076"/>
            <a:ext cx="325640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lvl="0" indent="-6858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Technology </a:t>
            </a:r>
          </a:p>
          <a:p>
            <a:pPr marL="685800" lvl="0" indent="-6858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Industry, Apparel and Garment Industry, </a:t>
            </a:r>
          </a:p>
          <a:p>
            <a:pPr marL="685800" lvl="0" indent="-6858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Tailoring and Boutique Services,</a:t>
            </a:r>
          </a:p>
          <a:p>
            <a:pPr marL="685800" lvl="0" indent="-6858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Personalization Platforms.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101032" y="2925247"/>
            <a:ext cx="21097939" cy="212365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OF COMPUTER SCIENCE AND ENGINEERING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6033" y="31696277"/>
            <a:ext cx="9004935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PRODUCT DEVELOPED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598087" y="12494873"/>
            <a:ext cx="9166585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SCIENTIFIC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12023" y="20430180"/>
            <a:ext cx="9040232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 VIABILITY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83531" y="33905751"/>
            <a:ext cx="14956685" cy="175432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</a:t>
            </a:r>
          </a:p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&amp; INTERNATIONAL PRODUCTS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002652" y="35766383"/>
            <a:ext cx="141048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:</a:t>
            </a:r>
            <a:r>
              <a:rPr lang="en-IN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STYLZ ,  </a:t>
            </a:r>
            <a:r>
              <a:rPr lang="en-IN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zazzdrobe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INTERNATIONAL:</a:t>
            </a:r>
            <a:r>
              <a:rPr lang="en-IN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 styles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57935" y="37852947"/>
            <a:ext cx="8838857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OF THE PRODUCT </a:t>
            </a:r>
            <a:endParaRPr lang="en-IN" sz="54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888414" y="38932348"/>
            <a:ext cx="1494255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=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/ Premium: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₹99–₹299/month</a:t>
            </a:r>
            <a:endParaRPr lang="en-IN" sz="5400" dirty="0"/>
          </a:p>
        </p:txBody>
      </p:sp>
      <p:sp>
        <p:nvSpPr>
          <p:cNvPr id="51" name="Freeform 21"/>
          <p:cNvSpPr/>
          <p:nvPr/>
        </p:nvSpPr>
        <p:spPr>
          <a:xfrm>
            <a:off x="1212563" y="40756690"/>
            <a:ext cx="10962233" cy="2381674"/>
          </a:xfrm>
          <a:custGeom>
            <a:avLst/>
            <a:gdLst/>
            <a:ahLst/>
            <a:cxnLst/>
            <a:rect l="l" t="t" r="r" b="b"/>
            <a:pathLst>
              <a:path w="6663634" h="1448888">
                <a:moveTo>
                  <a:pt x="0" y="0"/>
                </a:moveTo>
                <a:lnTo>
                  <a:pt x="6663634" y="0"/>
                </a:lnTo>
                <a:lnTo>
                  <a:pt x="6663634" y="1448888"/>
                </a:lnTo>
                <a:lnTo>
                  <a:pt x="0" y="144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: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 Anitha J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reeform 21"/>
          <p:cNvSpPr/>
          <p:nvPr/>
        </p:nvSpPr>
        <p:spPr>
          <a:xfrm>
            <a:off x="22857867" y="40011749"/>
            <a:ext cx="9730520" cy="3416320"/>
          </a:xfrm>
          <a:custGeom>
            <a:avLst/>
            <a:gdLst/>
            <a:ahLst/>
            <a:cxnLst/>
            <a:rect l="l" t="t" r="r" b="b"/>
            <a:pathLst>
              <a:path w="6663634" h="1448888">
                <a:moveTo>
                  <a:pt x="0" y="0"/>
                </a:moveTo>
                <a:lnTo>
                  <a:pt x="6663634" y="0"/>
                </a:lnTo>
                <a:lnTo>
                  <a:pt x="6663634" y="1448888"/>
                </a:lnTo>
                <a:lnTo>
                  <a:pt x="0" y="144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 INNOVATOR</a:t>
            </a: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Trina Joan Lynus (URK23CS1308)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D Jerlin Seraphina (URK23CS1004)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Jershlin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 J (URK23CS1059)</a:t>
            </a:r>
          </a:p>
          <a:p>
            <a:endParaRPr lang="en-IN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1292" y="12595286"/>
            <a:ext cx="4542838" cy="93891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563" y="1705777"/>
            <a:ext cx="6888469" cy="359756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153249" y="13059508"/>
            <a:ext cx="13929231" cy="695822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A48D632-0C9E-9594-53D0-45BE644142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8768" y="32941808"/>
            <a:ext cx="15217563" cy="75177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9A5AD14-E37D-F9F1-4CCE-4BCDC3120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5615" y="13822957"/>
            <a:ext cx="12635856" cy="6247930"/>
          </a:xfrm>
          <a:prstGeom prst="rect">
            <a:avLst/>
          </a:prstGeom>
        </p:spPr>
      </p:pic>
      <p:pic>
        <p:nvPicPr>
          <p:cNvPr id="1028" name="Picture 4" descr="What Is an AI Stylist? Tech That's Changing Fashion">
            <a:extLst>
              <a:ext uri="{FF2B5EF4-FFF2-40B4-BE49-F238E27FC236}">
                <a16:creationId xmlns:a16="http://schemas.microsoft.com/office/drawing/2014/main" id="{B858CD64-E524-9F47-D68C-95A4905F6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27" y="16742168"/>
            <a:ext cx="4885371" cy="325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igital Fashion: Virtual Garments, Metaverse Style &amp; Future Trends">
            <a:extLst>
              <a:ext uri="{FF2B5EF4-FFF2-40B4-BE49-F238E27FC236}">
                <a16:creationId xmlns:a16="http://schemas.microsoft.com/office/drawing/2014/main" id="{962BC70A-D336-295A-2DEB-CCCC36FC7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072" y="27240027"/>
            <a:ext cx="3957585" cy="3957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igital Closet Glow-Up: Smarter Styling ...">
            <a:extLst>
              <a:ext uri="{FF2B5EF4-FFF2-40B4-BE49-F238E27FC236}">
                <a16:creationId xmlns:a16="http://schemas.microsoft.com/office/drawing/2014/main" id="{C09EFDCB-FC45-C708-25DC-BABCAD493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15" y="23638642"/>
            <a:ext cx="4927736" cy="327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igital Closet Glow-Up: Smarter Styling ...">
            <a:extLst>
              <a:ext uri="{FF2B5EF4-FFF2-40B4-BE49-F238E27FC236}">
                <a16:creationId xmlns:a16="http://schemas.microsoft.com/office/drawing/2014/main" id="{2D8204CE-3DDF-374E-5885-E9C81EABD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27" y="20179102"/>
            <a:ext cx="5049469" cy="336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igital Closet Glow-Up: Smarter Styling ...">
            <a:extLst>
              <a:ext uri="{FF2B5EF4-FFF2-40B4-BE49-F238E27FC236}">
                <a16:creationId xmlns:a16="http://schemas.microsoft.com/office/drawing/2014/main" id="{9FFA1B5E-AFE1-C415-B2F8-B54AE8F80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14" y="8763913"/>
            <a:ext cx="6745627" cy="350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24ABFB76-2FD1-A4F3-25B9-86EDFF9C9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2115" y="1388061"/>
            <a:ext cx="3779356" cy="377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nline Fashion Retail Market Size And Industry Analysis 2025-2034">
            <a:extLst>
              <a:ext uri="{FF2B5EF4-FFF2-40B4-BE49-F238E27FC236}">
                <a16:creationId xmlns:a16="http://schemas.microsoft.com/office/drawing/2014/main" id="{138B86F9-203D-2218-BA6C-A546DE090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295" y="21570381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967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551</TotalTime>
  <Words>318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kavin</dc:creator>
  <cp:lastModifiedBy>Trina Lynus</cp:lastModifiedBy>
  <cp:revision>44</cp:revision>
  <dcterms:created xsi:type="dcterms:W3CDTF">2025-09-25T15:42:07Z</dcterms:created>
  <dcterms:modified xsi:type="dcterms:W3CDTF">2026-01-08T04:02:34Z</dcterms:modified>
</cp:coreProperties>
</file>